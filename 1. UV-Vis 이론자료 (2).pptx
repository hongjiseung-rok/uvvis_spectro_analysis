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72" r:id="rId3"/>
    <p:sldId id="281" r:id="rId4"/>
    <p:sldId id="282" r:id="rId5"/>
    <p:sldId id="283" r:id="rId6"/>
    <p:sldId id="284" r:id="rId7"/>
    <p:sldId id="285" r:id="rId8"/>
    <p:sldId id="290" r:id="rId9"/>
    <p:sldId id="286" r:id="rId10"/>
    <p:sldId id="288" r:id="rId11"/>
    <p:sldId id="287" r:id="rId12"/>
    <p:sldId id="292" r:id="rId13"/>
    <p:sldId id="293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3481" autoAdjust="0"/>
  </p:normalViewPr>
  <p:slideViewPr>
    <p:cSldViewPr>
      <p:cViewPr varScale="1">
        <p:scale>
          <a:sx n="48" d="100"/>
          <a:sy n="48" d="100"/>
        </p:scale>
        <p:origin x="181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원 김" userId="e8fac03d3a8e1e85" providerId="LiveId" clId="{B05FD5E1-140F-4BE4-A22C-CD4AF849E592}"/>
    <pc:docChg chg="undo custSel modSld">
      <pc:chgData name="재원 김" userId="e8fac03d3a8e1e85" providerId="LiveId" clId="{B05FD5E1-140F-4BE4-A22C-CD4AF849E592}" dt="2024-03-21T01:51:02.540" v="5" actId="478"/>
      <pc:docMkLst>
        <pc:docMk/>
      </pc:docMkLst>
      <pc:sldChg chg="addSp delSp mod">
        <pc:chgData name="재원 김" userId="e8fac03d3a8e1e85" providerId="LiveId" clId="{B05FD5E1-140F-4BE4-A22C-CD4AF849E592}" dt="2024-03-21T01:51:02.540" v="5" actId="478"/>
        <pc:sldMkLst>
          <pc:docMk/>
          <pc:sldMk cId="3817562575" sldId="291"/>
        </pc:sldMkLst>
      </pc:sldChg>
    </pc:docChg>
  </pc:docChgLst>
  <pc:docChgLst>
    <pc:chgData name="재원 김" userId="e8fac03d3a8e1e85" providerId="LiveId" clId="{CB46BF03-F3A2-4C8D-9EF1-71089EFA85C0}"/>
    <pc:docChg chg="delSld">
      <pc:chgData name="재원 김" userId="e8fac03d3a8e1e85" providerId="LiveId" clId="{CB46BF03-F3A2-4C8D-9EF1-71089EFA85C0}" dt="2025-03-12T06:53:20.176" v="0" actId="47"/>
      <pc:docMkLst>
        <pc:docMk/>
      </pc:docMkLst>
      <pc:sldChg chg="del">
        <pc:chgData name="재원 김" userId="e8fac03d3a8e1e85" providerId="LiveId" clId="{CB46BF03-F3A2-4C8D-9EF1-71089EFA85C0}" dt="2025-03-12T06:53:20.176" v="0" actId="47"/>
        <pc:sldMkLst>
          <pc:docMk/>
          <pc:sldMk cId="3817562575" sldId="291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37418-AB6B-4F06-991E-FEA7ACF0983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1C0A3-CA9A-439A-8DFC-08CAF2B5BB8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23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1F233D83-5BDA-4294-A8A6-5F7EABD658EE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1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6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77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DDBF78F0-2CF7-4213-8234-C371EA689500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2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872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87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C30B3CB4-C16C-4051-A977-9CFE0C36D099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3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C30B3CB4-C16C-4051-A977-9CFE0C36D099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4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528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C30B3CB4-C16C-4051-A977-9CFE0C36D099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5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880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C30B3CB4-C16C-4051-A977-9CFE0C36D099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6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17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C30B3CB4-C16C-4051-A977-9CFE0C36D099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7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602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C30B3CB4-C16C-4051-A977-9CFE0C36D099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8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424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C30B3CB4-C16C-4051-A977-9CFE0C36D099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9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889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C30B3CB4-C16C-4051-A977-9CFE0C36D099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10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535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C30B3CB4-C16C-4051-A977-9CFE0C36D099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11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55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C30B3CB4-C16C-4051-A977-9CFE0C36D099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12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442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2813" algn="l"/>
                <a:tab pos="1825625" algn="l"/>
                <a:tab pos="2740025" algn="l"/>
                <a:tab pos="3652838" algn="l"/>
                <a:tab pos="4567238" algn="l"/>
                <a:tab pos="5480050" algn="l"/>
                <a:tab pos="6392863" algn="l"/>
                <a:tab pos="7307263" algn="l"/>
                <a:tab pos="8220075" algn="l"/>
                <a:tab pos="9134475" algn="l"/>
                <a:tab pos="10047288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fld id="{C30B3CB4-C16C-4051-A977-9CFE0C36D099}" type="slidenum">
              <a:rPr lang="en-GB" altLang="ko-KR" smtClean="0">
                <a:latin typeface="맑은 고딕" pitchFamily="50" charset="-127"/>
                <a:ea typeface="맑은 고딕" pitchFamily="50" charset="-127"/>
              </a:rPr>
              <a:pPr eaLnBrk="1" hangingPunct="1">
                <a:spcBef>
                  <a:spcPct val="0"/>
                </a:spcBef>
                <a:buFont typeface="맑은 고딕" pitchFamily="50" charset="-127"/>
                <a:buNone/>
              </a:pPr>
              <a:t>13</a:t>
            </a:fld>
            <a:endParaRPr lang="en-GB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479" y="4344607"/>
            <a:ext cx="5488647" cy="41135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000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D7D49-3DE5-4877-9E08-70F1C4A808EE}" type="datetimeFigureOut">
              <a:rPr lang="ko-KR" altLang="en-US" smtClean="0"/>
              <a:pPr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6BA28-E3AE-4E4E-BF6D-04F9F04656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714375" y="3330985"/>
            <a:ext cx="7715250" cy="182620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lnSpc>
                <a:spcPct val="150000"/>
              </a:lnSpc>
              <a:buClr>
                <a:srgbClr val="95B3D7"/>
              </a:buClr>
              <a:buFont typeface="맑은 고딕" pitchFamily="48" charset="-127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맑은 고딕" pitchFamily="48" charset="-127"/>
                <a:cs typeface="Arial" panose="020B0604020202020204" pitchFamily="34" charset="0"/>
              </a:rPr>
              <a:t>UV-Visible spectroscopy</a:t>
            </a:r>
          </a:p>
          <a:p>
            <a:pPr algn="ctr">
              <a:lnSpc>
                <a:spcPct val="150000"/>
              </a:lnSpc>
              <a:buClr>
                <a:srgbClr val="95B3D7"/>
              </a:buClr>
              <a:buFont typeface="맑은 고딕" pitchFamily="48" charset="-127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ko-KR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맑은 고딕" pitchFamily="48" charset="-127"/>
                <a:cs typeface="Arial" panose="020B0604020202020204" pitchFamily="34" charset="0"/>
              </a:rPr>
              <a:t>자외선</a:t>
            </a:r>
            <a:r>
              <a:rPr lang="en-US" altLang="ko-KR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맑은 고딕" pitchFamily="48" charset="-127"/>
                <a:cs typeface="Arial" panose="020B0604020202020204" pitchFamily="34" charset="0"/>
              </a:rPr>
              <a:t>-</a:t>
            </a:r>
            <a:r>
              <a:rPr lang="ko-KR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맑은 고딕" pitchFamily="48" charset="-127"/>
                <a:cs typeface="Arial" panose="020B0604020202020204" pitchFamily="34" charset="0"/>
              </a:rPr>
              <a:t>가시광선 분광기</a:t>
            </a:r>
            <a:endParaRPr lang="en-GB" sz="40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맑은 고딕" pitchFamily="48" charset="-127"/>
              <a:cs typeface="Arial" panose="020B0604020202020204" pitchFamily="34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CCFAC46A-2A50-42DB-887E-8008C1335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500381"/>
            <a:ext cx="7715250" cy="12025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lnSpc>
                <a:spcPct val="150000"/>
              </a:lnSpc>
              <a:buClr>
                <a:srgbClr val="95B3D7"/>
              </a:buClr>
              <a:buFont typeface="맑은 고딕" pitchFamily="48" charset="-127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4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맑은 고딕" pitchFamily="48" charset="-127"/>
                <a:cs typeface="Arial" panose="020B0604020202020204" pitchFamily="34" charset="0"/>
              </a:rPr>
              <a:t>2026-1 </a:t>
            </a:r>
            <a:r>
              <a:rPr lang="ko-KR" altLang="en-US" sz="4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맑은 고딕" pitchFamily="48" charset="-127"/>
                <a:cs typeface="Arial" panose="020B0604020202020204" pitchFamily="34" charset="0"/>
              </a:rPr>
              <a:t>기기분석 실험</a:t>
            </a:r>
            <a:endParaRPr lang="en-GB" sz="48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맑은 고딕" pitchFamily="4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8267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/>
          <p:cNvSpPr>
            <a:spLocks noChangeArrowheads="1"/>
          </p:cNvSpPr>
          <p:nvPr/>
        </p:nvSpPr>
        <p:spPr bwMode="auto">
          <a:xfrm>
            <a:off x="258669" y="260648"/>
            <a:ext cx="8626663" cy="2002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ts val="800"/>
              </a:spcBef>
              <a:buFont typeface="Arial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ts val="700"/>
              </a:spcBef>
              <a:buFont typeface="Arial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ts val="600"/>
              </a:spcBef>
              <a:buFont typeface="Arial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ts val="500"/>
              </a:spcBef>
              <a:buFont typeface="Arial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ts val="500"/>
              </a:spcBef>
              <a:buFont typeface="Arial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449263" eaLnBrk="0" fontAlgn="base" hangingPunct="0">
              <a:lnSpc>
                <a:spcPct val="111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449263" eaLnBrk="0" fontAlgn="base" hangingPunct="0">
              <a:lnSpc>
                <a:spcPct val="111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449263" eaLnBrk="0" fontAlgn="base" hangingPunct="0">
              <a:lnSpc>
                <a:spcPct val="111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449263" eaLnBrk="0" fontAlgn="base" hangingPunct="0">
              <a:lnSpc>
                <a:spcPct val="111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맑은 고딕" pitchFamily="50" charset="-127"/>
              <a:buNone/>
            </a:pPr>
            <a:r>
              <a:rPr lang="ko-KR" altLang="en-US" sz="2800" b="1" dirty="0"/>
              <a:t>자외선</a:t>
            </a:r>
            <a:r>
              <a:rPr lang="en-US" altLang="ko-KR" sz="2800" b="1" dirty="0"/>
              <a:t>-</a:t>
            </a:r>
            <a:r>
              <a:rPr lang="ko-KR" altLang="en-US" sz="2800" b="1" dirty="0"/>
              <a:t>가시광선 분광기</a:t>
            </a:r>
            <a:r>
              <a:rPr lang="en-GB" altLang="ko-KR" sz="2800" b="1" dirty="0"/>
              <a:t> (UV-Visible Spectroscopy)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맑은 고딕" pitchFamily="50" charset="-127"/>
              <a:buNone/>
            </a:pPr>
            <a:endParaRPr lang="en-GB" altLang="ko-KR" sz="1800" b="1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맑은 고딕" pitchFamily="50" charset="-127"/>
              <a:buNone/>
            </a:pPr>
            <a:r>
              <a:rPr lang="ko-KR" altLang="en-US" sz="2000" dirty="0"/>
              <a:t>특정 시료가 자외선</a:t>
            </a:r>
            <a:r>
              <a:rPr lang="en-US" altLang="ko-KR" sz="2000" dirty="0"/>
              <a:t>-</a:t>
            </a:r>
            <a:r>
              <a:rPr lang="ko-KR" altLang="en-US" sz="2000" dirty="0"/>
              <a:t>가시광선 영역대의 빛을 흡수하는 양과 파장 영역대를 통하여 시료의 농도와 종류를 정량 및 정성 분석하는 분광 광도계  </a:t>
            </a:r>
            <a:endParaRPr lang="en-GB" altLang="ko-KR" sz="20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맑은 고딕" pitchFamily="50" charset="-127"/>
              <a:buNone/>
            </a:pPr>
            <a:endParaRPr lang="en-GB" altLang="ko-KR" sz="1800" dirty="0"/>
          </a:p>
        </p:txBody>
      </p:sp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ts val="800"/>
              </a:spcBef>
              <a:buFont typeface="Arial" charset="0"/>
              <a:buChar char="•"/>
              <a:defRPr sz="3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ts val="700"/>
              </a:spcBef>
              <a:buFont typeface="Arial" charset="0"/>
              <a:buChar char="–"/>
              <a:defRPr sz="2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ts val="600"/>
              </a:spcBef>
              <a:buFont typeface="Arial" charset="0"/>
              <a:buChar char="•"/>
              <a:defRPr sz="2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ts val="500"/>
              </a:spcBef>
              <a:buFont typeface="Arial" charset="0"/>
              <a:buChar char="–"/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ts val="500"/>
              </a:spcBef>
              <a:buFont typeface="Arial" charset="0"/>
              <a:buChar char="»"/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449263" eaLnBrk="0" fontAlgn="base" hangingPunct="0">
              <a:lnSpc>
                <a:spcPct val="111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449263" eaLnBrk="0" fontAlgn="base" hangingPunct="0">
              <a:lnSpc>
                <a:spcPct val="111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449263" eaLnBrk="0" fontAlgn="base" hangingPunct="0">
              <a:lnSpc>
                <a:spcPct val="111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449263" eaLnBrk="0" fontAlgn="base" hangingPunct="0">
              <a:lnSpc>
                <a:spcPct val="111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 typeface="맑은 고딕" pitchFamily="50" charset="-127"/>
              <a:buNone/>
            </a:pPr>
            <a:endParaRPr lang="ko-KR" altLang="en-US" sz="180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9D7BF91-74F9-47E5-9F0C-5B06334D1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0968"/>
            <a:ext cx="9144000" cy="37605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09B286-738D-4CBF-BFC8-12655B873483}"/>
              </a:ext>
            </a:extLst>
          </p:cNvPr>
          <p:cNvSpPr txBox="1"/>
          <p:nvPr/>
        </p:nvSpPr>
        <p:spPr>
          <a:xfrm>
            <a:off x="258668" y="2271178"/>
            <a:ext cx="5328592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b="1" dirty="0"/>
              <a:t>Ultraviolet</a:t>
            </a:r>
            <a:r>
              <a:rPr lang="ko-KR" altLang="en-US" b="1" dirty="0"/>
              <a:t> </a:t>
            </a:r>
            <a:r>
              <a:rPr lang="en-US" altLang="ko-KR" b="1" dirty="0"/>
              <a:t>spectrum (</a:t>
            </a:r>
            <a:r>
              <a:rPr lang="ko-KR" altLang="en-US" b="1" dirty="0"/>
              <a:t>자외선</a:t>
            </a:r>
            <a:r>
              <a:rPr lang="en-US" altLang="ko-KR" b="1" dirty="0"/>
              <a:t>) </a:t>
            </a:r>
            <a:r>
              <a:rPr lang="en-GB" altLang="ko-KR" sz="1800" b="1" dirty="0"/>
              <a:t>: 180-400 nm</a:t>
            </a:r>
            <a:endParaRPr lang="en-US" altLang="ko-KR" b="1" dirty="0"/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b="1" dirty="0"/>
              <a:t>Visible spectrum (</a:t>
            </a:r>
            <a:r>
              <a:rPr lang="ko-KR" altLang="en-GB" sz="1800" b="1" dirty="0"/>
              <a:t>가시광선</a:t>
            </a:r>
            <a:r>
              <a:rPr lang="en-US" altLang="ko-KR" b="1" dirty="0"/>
              <a:t>) </a:t>
            </a:r>
            <a:r>
              <a:rPr lang="en-GB" altLang="ko-KR" sz="1800" b="1" dirty="0"/>
              <a:t>: 400-700 nm</a:t>
            </a:r>
          </a:p>
        </p:txBody>
      </p:sp>
    </p:spTree>
    <p:extLst>
      <p:ext uri="{BB962C8B-B14F-4D97-AF65-F5344CB8AC3E}">
        <p14:creationId xmlns:p14="http://schemas.microsoft.com/office/powerpoint/2010/main" val="17717262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7FE335-5E63-4628-AC51-EF8EEF35F3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800" y="548680"/>
            <a:ext cx="5984672" cy="262358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3F35BA-93AE-4DF9-B99D-0D4993C90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147" y="3403477"/>
            <a:ext cx="5975978" cy="3193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D63890-8937-426F-92DB-5F2B3D756678}"/>
              </a:ext>
            </a:extLst>
          </p:cNvPr>
          <p:cNvSpPr txBox="1"/>
          <p:nvPr/>
        </p:nvSpPr>
        <p:spPr>
          <a:xfrm>
            <a:off x="35496" y="1340768"/>
            <a:ext cx="28632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200" b="1" dirty="0"/>
              <a:t>정성 분석</a:t>
            </a:r>
            <a:endParaRPr lang="en-US" altLang="ko-KR" sz="2200" b="1" dirty="0"/>
          </a:p>
          <a:p>
            <a:pPr algn="ctr">
              <a:lnSpc>
                <a:spcPct val="150000"/>
              </a:lnSpc>
            </a:pPr>
            <a:r>
              <a:rPr lang="en-US" sz="2200" b="1" i="0" dirty="0">
                <a:solidFill>
                  <a:srgbClr val="000000"/>
                </a:solidFill>
                <a:effectLst/>
                <a:latin typeface="+mj-lt"/>
              </a:rPr>
              <a:t>Qualitative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-apple-system"/>
              </a:rPr>
              <a:t> analysis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2EB03D-AAF4-4362-B960-960B8953C589}"/>
              </a:ext>
            </a:extLst>
          </p:cNvPr>
          <p:cNvSpPr txBox="1"/>
          <p:nvPr/>
        </p:nvSpPr>
        <p:spPr>
          <a:xfrm>
            <a:off x="35496" y="4420269"/>
            <a:ext cx="30440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200" b="1" i="0" dirty="0">
                <a:solidFill>
                  <a:srgbClr val="000000"/>
                </a:solidFill>
                <a:effectLst/>
                <a:latin typeface="+mj-lt"/>
              </a:rPr>
              <a:t>정량 분석</a:t>
            </a:r>
            <a:endParaRPr lang="en-US" sz="2200" b="1" i="0" dirty="0">
              <a:solidFill>
                <a:srgbClr val="000000"/>
              </a:solidFill>
              <a:effectLst/>
              <a:latin typeface="+mj-lt"/>
            </a:endParaRPr>
          </a:p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000000"/>
                </a:solidFill>
                <a:latin typeface="+mj-lt"/>
              </a:rPr>
              <a:t>Q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+mj-lt"/>
              </a:rPr>
              <a:t>uantitative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2036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AD2B5A7E-3470-4CF2-A0CC-5A02A3321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45" y="332656"/>
            <a:ext cx="7020780" cy="2899672"/>
          </a:xfrm>
          <a:prstGeom prst="rect">
            <a:avLst/>
          </a:prstGeom>
        </p:spPr>
      </p:pic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E57B0F96-659A-4968-9DB5-95E28CCBCF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878" y="3481657"/>
            <a:ext cx="7134514" cy="318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6449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EC07C5-5BF3-47D6-B377-622D011CD0F7}"/>
              </a:ext>
            </a:extLst>
          </p:cNvPr>
          <p:cNvSpPr txBox="1"/>
          <p:nvPr/>
        </p:nvSpPr>
        <p:spPr>
          <a:xfrm>
            <a:off x="323528" y="365755"/>
            <a:ext cx="4320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/>
              <a:t>기기의 구성</a:t>
            </a:r>
            <a:endParaRPr lang="en-US" sz="4800" b="1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80D9C2E-C284-4A70-966A-4764701049FB}"/>
              </a:ext>
            </a:extLst>
          </p:cNvPr>
          <p:cNvGrpSpPr/>
          <p:nvPr/>
        </p:nvGrpSpPr>
        <p:grpSpPr>
          <a:xfrm>
            <a:off x="323528" y="1983236"/>
            <a:ext cx="8496944" cy="4110060"/>
            <a:chOff x="323528" y="1911228"/>
            <a:chExt cx="8496944" cy="4110060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91BF77E-E77D-4AEB-B71D-E8AA4E77031E}"/>
                </a:ext>
              </a:extLst>
            </p:cNvPr>
            <p:cNvGrpSpPr/>
            <p:nvPr/>
          </p:nvGrpSpPr>
          <p:grpSpPr>
            <a:xfrm>
              <a:off x="323528" y="1911228"/>
              <a:ext cx="8496944" cy="4110060"/>
              <a:chOff x="323528" y="1911228"/>
              <a:chExt cx="8496944" cy="4110060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B5052D5E-DC48-4BC3-A2BA-03A8AAF100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5536" y="1911228"/>
                <a:ext cx="8352928" cy="411006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DF6A6D-5269-4B03-8B5D-C309D6A1546E}"/>
                  </a:ext>
                </a:extLst>
              </p:cNvPr>
              <p:cNvSpPr txBox="1"/>
              <p:nvPr/>
            </p:nvSpPr>
            <p:spPr>
              <a:xfrm>
                <a:off x="323528" y="5229200"/>
                <a:ext cx="8496944" cy="50405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F2E800-23E8-4175-A349-7EC81A6454DF}"/>
                </a:ext>
              </a:extLst>
            </p:cNvPr>
            <p:cNvSpPr txBox="1"/>
            <p:nvPr/>
          </p:nvSpPr>
          <p:spPr>
            <a:xfrm>
              <a:off x="755575" y="5357600"/>
              <a:ext cx="12768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200" b="1" dirty="0"/>
                <a:t>광원</a:t>
              </a:r>
              <a:endParaRPr lang="en-US" sz="22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0E71851-F959-4BBA-8657-BCE055FDF250}"/>
                </a:ext>
              </a:extLst>
            </p:cNvPr>
            <p:cNvSpPr txBox="1"/>
            <p:nvPr/>
          </p:nvSpPr>
          <p:spPr>
            <a:xfrm>
              <a:off x="7524328" y="5357600"/>
              <a:ext cx="12768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200" b="1" dirty="0"/>
                <a:t>검출기</a:t>
              </a:r>
              <a:endParaRPr lang="en-US" sz="22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4D2FBB-61EA-47C0-A5E0-BCEE84676445}"/>
                </a:ext>
              </a:extLst>
            </p:cNvPr>
            <p:cNvSpPr txBox="1"/>
            <p:nvPr/>
          </p:nvSpPr>
          <p:spPr>
            <a:xfrm>
              <a:off x="6012160" y="5357600"/>
              <a:ext cx="12768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200" b="1" dirty="0"/>
                <a:t>시료</a:t>
              </a:r>
              <a:endParaRPr lang="en-US" sz="22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625F14-D308-4A17-A5AB-9ED09BA00A02}"/>
                </a:ext>
              </a:extLst>
            </p:cNvPr>
            <p:cNvSpPr txBox="1"/>
            <p:nvPr/>
          </p:nvSpPr>
          <p:spPr>
            <a:xfrm>
              <a:off x="2915816" y="5357600"/>
              <a:ext cx="25536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200" b="1"/>
                <a:t>단색화 장치</a:t>
              </a:r>
              <a:endParaRPr lang="en-US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63719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D22E21F-7B63-448A-A087-36757EC06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2312497"/>
            <a:ext cx="8999984" cy="34207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F80FD5-6100-48E4-A6A8-098C650DC59C}"/>
              </a:ext>
            </a:extLst>
          </p:cNvPr>
          <p:cNvSpPr txBox="1"/>
          <p:nvPr/>
        </p:nvSpPr>
        <p:spPr>
          <a:xfrm>
            <a:off x="323528" y="365755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/>
              <a:t>광원 </a:t>
            </a:r>
            <a:r>
              <a:rPr lang="en-US" altLang="ko-KR" sz="4800" b="1" dirty="0"/>
              <a:t>(Light Source)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6610779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16A620-82E7-4A72-A685-DD6EFD12AA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9916"/>
            <a:ext cx="9144000" cy="32373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6C4588-DE5D-4C12-8746-24B108CCFE10}"/>
              </a:ext>
            </a:extLst>
          </p:cNvPr>
          <p:cNvSpPr txBox="1"/>
          <p:nvPr/>
        </p:nvSpPr>
        <p:spPr>
          <a:xfrm>
            <a:off x="323528" y="365755"/>
            <a:ext cx="5400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/>
              <a:t>단색화 장치 </a:t>
            </a:r>
            <a:r>
              <a:rPr lang="en-US" altLang="ko-KR" sz="4800" b="1" dirty="0"/>
              <a:t>(Monochromator)</a:t>
            </a:r>
            <a:endParaRPr lang="en-US" sz="4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DC6BBF-D97C-47F8-96DA-58C4F760A192}"/>
              </a:ext>
            </a:extLst>
          </p:cNvPr>
          <p:cNvSpPr txBox="1"/>
          <p:nvPr/>
        </p:nvSpPr>
        <p:spPr>
          <a:xfrm>
            <a:off x="6156176" y="5606370"/>
            <a:ext cx="21518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b="1" dirty="0" err="1"/>
              <a:t>회절발</a:t>
            </a:r>
            <a:endParaRPr lang="en-US" sz="3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952D1-6BAE-44E5-B87D-A8818ADAA104}"/>
              </a:ext>
            </a:extLst>
          </p:cNvPr>
          <p:cNvSpPr txBox="1"/>
          <p:nvPr/>
        </p:nvSpPr>
        <p:spPr>
          <a:xfrm>
            <a:off x="1259632" y="5606370"/>
            <a:ext cx="21518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b="1" dirty="0"/>
              <a:t>프리즘</a:t>
            </a:r>
            <a:endParaRPr lang="en-US" sz="3500" b="1" dirty="0"/>
          </a:p>
        </p:txBody>
      </p:sp>
    </p:spTree>
    <p:extLst>
      <p:ext uri="{BB962C8B-B14F-4D97-AF65-F5344CB8AC3E}">
        <p14:creationId xmlns:p14="http://schemas.microsoft.com/office/powerpoint/2010/main" val="7264903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6C4588-DE5D-4C12-8746-24B108CCFE10}"/>
              </a:ext>
            </a:extLst>
          </p:cNvPr>
          <p:cNvSpPr txBox="1"/>
          <p:nvPr/>
        </p:nvSpPr>
        <p:spPr>
          <a:xfrm>
            <a:off x="323528" y="365755"/>
            <a:ext cx="54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/>
              <a:t>검출기</a:t>
            </a:r>
            <a:r>
              <a:rPr lang="en-US" altLang="ko-KR" sz="4800" b="1" dirty="0"/>
              <a:t>(Detector)</a:t>
            </a:r>
            <a:endParaRPr lang="en-US" sz="48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A88402-C746-490C-9887-3059826B0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06" y="2060848"/>
            <a:ext cx="7931589" cy="352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910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DE50A5-06B5-4DA1-BE65-202023EB8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400" y="1399931"/>
            <a:ext cx="7253200" cy="2605133"/>
          </a:xfrm>
          <a:prstGeom prst="rect">
            <a:avLst/>
          </a:prstGeom>
        </p:spPr>
      </p:pic>
      <p:pic>
        <p:nvPicPr>
          <p:cNvPr id="5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BAD3A0FF-F5B9-4619-B712-EFA1AA4E96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8" y="4090361"/>
            <a:ext cx="7253200" cy="2795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E8F98E-C14C-4D05-886C-6A52C61972AD}"/>
              </a:ext>
            </a:extLst>
          </p:cNvPr>
          <p:cNvSpPr txBox="1"/>
          <p:nvPr/>
        </p:nvSpPr>
        <p:spPr>
          <a:xfrm>
            <a:off x="931658" y="1053897"/>
            <a:ext cx="1224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큐벳</a:t>
            </a:r>
            <a:r>
              <a:rPr lang="en-US" altLang="ko-KR" sz="22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셀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7E15A-B960-4512-9617-4670CCA585C9}"/>
              </a:ext>
            </a:extLst>
          </p:cNvPr>
          <p:cNvSpPr txBox="1"/>
          <p:nvPr/>
        </p:nvSpPr>
        <p:spPr>
          <a:xfrm>
            <a:off x="971600" y="3903439"/>
            <a:ext cx="1224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용매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C52129-2B25-4ECB-BF00-AC5248186A57}"/>
              </a:ext>
            </a:extLst>
          </p:cNvPr>
          <p:cNvSpPr txBox="1"/>
          <p:nvPr/>
        </p:nvSpPr>
        <p:spPr>
          <a:xfrm>
            <a:off x="323528" y="188640"/>
            <a:ext cx="712879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latin typeface="AIRLA"/>
              </a:rPr>
              <a:t>UV </a:t>
            </a:r>
            <a:r>
              <a:rPr lang="ko-KR" altLang="en-US" sz="3500" b="1" dirty="0">
                <a:latin typeface="AIRLA"/>
              </a:rPr>
              <a:t>측정 시 고려해야 하는 사항</a:t>
            </a:r>
            <a:endParaRPr lang="en-US" sz="3500" b="1" dirty="0">
              <a:latin typeface="AIRLA"/>
            </a:endParaRPr>
          </a:p>
        </p:txBody>
      </p:sp>
    </p:spTree>
    <p:extLst>
      <p:ext uri="{BB962C8B-B14F-4D97-AF65-F5344CB8AC3E}">
        <p14:creationId xmlns:p14="http://schemas.microsoft.com/office/powerpoint/2010/main" val="13582252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B1FDB8-2F4C-4B5C-975E-37814ED80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47" y="3302543"/>
            <a:ext cx="7585907" cy="3510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35835A-7F3D-4B49-9C45-6D1B56F42C9A}"/>
              </a:ext>
            </a:extLst>
          </p:cNvPr>
          <p:cNvSpPr txBox="1"/>
          <p:nvPr/>
        </p:nvSpPr>
        <p:spPr>
          <a:xfrm>
            <a:off x="251520" y="1282918"/>
            <a:ext cx="3960440" cy="1749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500" dirty="0"/>
              <a:t>용매에 의한 흡수</a:t>
            </a:r>
            <a:endParaRPr lang="en-US" altLang="ko-KR" sz="25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500" dirty="0"/>
              <a:t>셀과 용매에 의한 산란</a:t>
            </a:r>
            <a:endParaRPr lang="en-US" altLang="ko-KR" sz="25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500" dirty="0"/>
              <a:t>용질에 의한 흡수</a:t>
            </a:r>
            <a:r>
              <a:rPr lang="en-US" altLang="ko-KR" sz="2500" dirty="0"/>
              <a:t>/</a:t>
            </a:r>
            <a:r>
              <a:rPr lang="ko-KR" altLang="en-US" sz="2500" dirty="0"/>
              <a:t>산란</a:t>
            </a:r>
            <a:endParaRPr lang="en-US" sz="2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D5140A-DF2C-4736-9F85-59C6841A451B}"/>
              </a:ext>
            </a:extLst>
          </p:cNvPr>
          <p:cNvSpPr txBox="1"/>
          <p:nvPr/>
        </p:nvSpPr>
        <p:spPr>
          <a:xfrm>
            <a:off x="323528" y="458492"/>
            <a:ext cx="57574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/>
              <a:t>바탕 시료 측정의 이유</a:t>
            </a:r>
            <a:endParaRPr lang="en-US" sz="3000" b="1" dirty="0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F21CBD48-2643-4D35-8FE3-AD8D176F20DE}"/>
              </a:ext>
            </a:extLst>
          </p:cNvPr>
          <p:cNvSpPr/>
          <p:nvPr/>
        </p:nvSpPr>
        <p:spPr>
          <a:xfrm>
            <a:off x="4211960" y="2058295"/>
            <a:ext cx="1813520" cy="5539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E7565-F5EB-4999-B5A1-BBDE222F5580}"/>
              </a:ext>
            </a:extLst>
          </p:cNvPr>
          <p:cNvSpPr txBox="1"/>
          <p:nvPr/>
        </p:nvSpPr>
        <p:spPr>
          <a:xfrm>
            <a:off x="4355976" y="1626839"/>
            <a:ext cx="1368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1,</a:t>
            </a:r>
            <a:r>
              <a:rPr lang="ko-KR" altLang="en-US" sz="2200" dirty="0"/>
              <a:t> </a:t>
            </a:r>
            <a:r>
              <a:rPr lang="en-US" altLang="ko-KR" sz="2200" dirty="0"/>
              <a:t>2</a:t>
            </a:r>
            <a:r>
              <a:rPr lang="ko-KR" altLang="en-US" sz="2200" dirty="0"/>
              <a:t> 제거 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92E66-78CA-4812-9B9A-0015BE79C8D2}"/>
              </a:ext>
            </a:extLst>
          </p:cNvPr>
          <p:cNvSpPr txBox="1"/>
          <p:nvPr/>
        </p:nvSpPr>
        <p:spPr>
          <a:xfrm>
            <a:off x="6372200" y="1412776"/>
            <a:ext cx="2645172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dirty="0"/>
              <a:t>우리가 측정하고자 하는 용질에 의한 흡수</a:t>
            </a:r>
            <a:r>
              <a:rPr lang="en-US" altLang="ko-KR" sz="2200" dirty="0"/>
              <a:t>/ </a:t>
            </a:r>
            <a:r>
              <a:rPr lang="ko-KR" altLang="en-US" sz="2200" dirty="0"/>
              <a:t>산란만 측정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132580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1446D7D-FC43-4C8E-B757-6E668A174A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67"/>
          <a:stretch/>
        </p:blipFill>
        <p:spPr>
          <a:xfrm>
            <a:off x="5688125" y="4091993"/>
            <a:ext cx="3168351" cy="26814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D98C4BD-DC76-449B-800C-21A7BE1C202A}"/>
              </a:ext>
            </a:extLst>
          </p:cNvPr>
          <p:cNvSpPr txBox="1"/>
          <p:nvPr/>
        </p:nvSpPr>
        <p:spPr>
          <a:xfrm>
            <a:off x="305526" y="332656"/>
            <a:ext cx="8532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err="1"/>
              <a:t>흡광도</a:t>
            </a:r>
            <a:r>
              <a:rPr lang="ko-KR" altLang="en-US" sz="4000" b="1" dirty="0"/>
              <a:t> </a:t>
            </a:r>
            <a:r>
              <a:rPr lang="en-US" altLang="ko-KR" sz="4000" b="1" dirty="0"/>
              <a:t>1</a:t>
            </a:r>
            <a:r>
              <a:rPr lang="ko-KR" altLang="en-US" sz="4000" b="1" dirty="0"/>
              <a:t>이하로 측정 해야 하는 이유</a:t>
            </a:r>
            <a:endParaRPr lang="en-US" sz="4000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A5EE495-17F6-4F87-878D-99BAF37CA5A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274"/>
          <a:stretch/>
        </p:blipFill>
        <p:spPr>
          <a:xfrm>
            <a:off x="5688124" y="1174860"/>
            <a:ext cx="3168352" cy="29241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8B92D62-FB9D-4AC8-BDC3-0C19FAB843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64" r="971"/>
          <a:stretch/>
        </p:blipFill>
        <p:spPr>
          <a:xfrm>
            <a:off x="492944" y="3212514"/>
            <a:ext cx="4636740" cy="35526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2387C26-0606-41B8-B371-E72BF06CB9D1}"/>
              </a:ext>
            </a:extLst>
          </p:cNvPr>
          <p:cNvSpPr txBox="1"/>
          <p:nvPr/>
        </p:nvSpPr>
        <p:spPr>
          <a:xfrm>
            <a:off x="171365" y="1628800"/>
            <a:ext cx="5552763" cy="1879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측정하는 시료의 농도가 높아지게 되면 용매의 굴절률이</a:t>
            </a:r>
            <a:r>
              <a:rPr lang="en-US" altLang="ko-KR" sz="2000" dirty="0"/>
              <a:t> </a:t>
            </a:r>
            <a:r>
              <a:rPr lang="ko-KR" altLang="en-US" sz="2000" dirty="0"/>
              <a:t>바뀌게 되며</a:t>
            </a:r>
            <a:r>
              <a:rPr lang="en-US" altLang="ko-KR" sz="2000" dirty="0"/>
              <a:t>, </a:t>
            </a:r>
            <a:r>
              <a:rPr lang="ko-KR" altLang="en-US" sz="2000" dirty="0"/>
              <a:t>이는 용액의 광화학적 성질의 변화를 주게 되어 </a:t>
            </a:r>
            <a:r>
              <a:rPr lang="ko-KR" altLang="en-US" sz="2000" dirty="0" err="1"/>
              <a:t>흡광도의</a:t>
            </a:r>
            <a:r>
              <a:rPr lang="ko-KR" altLang="en-US" sz="2000" dirty="0"/>
              <a:t> 선형성이 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깨지게 된다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204718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D98C4BD-DC76-449B-800C-21A7BE1C202A}"/>
              </a:ext>
            </a:extLst>
          </p:cNvPr>
          <p:cNvSpPr txBox="1"/>
          <p:nvPr/>
        </p:nvSpPr>
        <p:spPr>
          <a:xfrm>
            <a:off x="305526" y="332656"/>
            <a:ext cx="8532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4-NP</a:t>
            </a:r>
            <a:r>
              <a:rPr lang="ko-KR" altLang="en-US" sz="4000" b="1" dirty="0"/>
              <a:t>의 촉매환원반응</a:t>
            </a:r>
            <a:endParaRPr lang="en-US" sz="4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387C26-0606-41B8-B371-E72BF06CB9D1}"/>
              </a:ext>
            </a:extLst>
          </p:cNvPr>
          <p:cNvSpPr txBox="1"/>
          <p:nvPr/>
        </p:nvSpPr>
        <p:spPr>
          <a:xfrm>
            <a:off x="4427985" y="1412776"/>
            <a:ext cx="4410490" cy="4187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4-nitrophenol (4-NP)</a:t>
            </a:r>
            <a:r>
              <a:rPr lang="ko-KR" altLang="en-US" sz="2000" dirty="0"/>
              <a:t>은 금속 </a:t>
            </a:r>
            <a:r>
              <a:rPr lang="ko-KR" altLang="en-US" sz="2000" dirty="0" err="1"/>
              <a:t>나노입자</a:t>
            </a:r>
            <a:r>
              <a:rPr lang="ko-KR" altLang="en-US" sz="2000" dirty="0"/>
              <a:t> 촉매 하에서 </a:t>
            </a:r>
            <a:r>
              <a:rPr lang="en-US" altLang="ko-KR" sz="2000" dirty="0"/>
              <a:t>NaBH</a:t>
            </a:r>
            <a:r>
              <a:rPr lang="en-US" altLang="ko-KR" sz="2000" baseline="-25000" dirty="0"/>
              <a:t>4</a:t>
            </a:r>
            <a:r>
              <a:rPr lang="ko-KR" altLang="en-US" sz="2000" dirty="0"/>
              <a:t>에 의해 환원되어 </a:t>
            </a:r>
            <a:r>
              <a:rPr lang="en-US" altLang="ko-KR" sz="2000" dirty="0"/>
              <a:t>4-aminophenol (4-AP)</a:t>
            </a:r>
            <a:r>
              <a:rPr lang="ko-KR" altLang="en-US" sz="2000" dirty="0"/>
              <a:t>로 변한다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UV-Vis </a:t>
            </a:r>
            <a:r>
              <a:rPr lang="ko-KR" altLang="en-US" sz="2000" dirty="0"/>
              <a:t>분광분석을 통해 </a:t>
            </a:r>
            <a:r>
              <a:rPr lang="en-US" altLang="ko-KR" sz="2000" dirty="0"/>
              <a:t>4-NP</a:t>
            </a:r>
            <a:r>
              <a:rPr lang="ko-KR" altLang="en-US" sz="2000" dirty="0"/>
              <a:t>에 해당하는 </a:t>
            </a:r>
            <a:r>
              <a:rPr lang="ko-KR" altLang="en-US" sz="2000" dirty="0" err="1"/>
              <a:t>흡광이</a:t>
            </a:r>
            <a:r>
              <a:rPr lang="ko-KR" altLang="en-US" sz="2000" dirty="0"/>
              <a:t> 감소하고 </a:t>
            </a:r>
            <a:r>
              <a:rPr lang="en-US" altLang="ko-KR" sz="2000" dirty="0"/>
              <a:t>4-AP</a:t>
            </a:r>
            <a:r>
              <a:rPr lang="ko-KR" altLang="en-US" sz="2000" dirty="0"/>
              <a:t>에 해당하는 </a:t>
            </a:r>
            <a:r>
              <a:rPr lang="ko-KR" altLang="en-US" sz="2000" dirty="0" err="1"/>
              <a:t>흡광이</a:t>
            </a:r>
            <a:r>
              <a:rPr lang="ko-KR" altLang="en-US" sz="2000" dirty="0"/>
              <a:t> 증가하는 모습을 관측할 수 있다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873AB77-53B1-B14A-59D3-A1F7B00F6A37}"/>
              </a:ext>
            </a:extLst>
          </p:cNvPr>
          <p:cNvGrpSpPr/>
          <p:nvPr/>
        </p:nvGrpSpPr>
        <p:grpSpPr>
          <a:xfrm>
            <a:off x="305526" y="1412776"/>
            <a:ext cx="3964467" cy="1680882"/>
            <a:chOff x="350743" y="1299881"/>
            <a:chExt cx="3964467" cy="168088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8191809-6924-8723-0EC1-36994541636E}"/>
                </a:ext>
              </a:extLst>
            </p:cNvPr>
            <p:cNvGrpSpPr/>
            <p:nvPr/>
          </p:nvGrpSpPr>
          <p:grpSpPr>
            <a:xfrm>
              <a:off x="350743" y="1299881"/>
              <a:ext cx="3964467" cy="1680882"/>
              <a:chOff x="2151529" y="143435"/>
              <a:chExt cx="5414683" cy="2133600"/>
            </a:xfrm>
          </p:grpSpPr>
          <p:pic>
            <p:nvPicPr>
              <p:cNvPr id="7" name="Picture 2" descr="(a) Reaction scheme for the reduction of 4-nitrophenol to 4-aminophenol. (b) Time-dependent UV-Vis spectra of the catalytic reduction of 4-nitrophenol to 4-aminophenol with Au/PD/MoS 2 .">
                <a:extLst>
                  <a:ext uri="{FF2B5EF4-FFF2-40B4-BE49-F238E27FC236}">
                    <a16:creationId xmlns:a16="http://schemas.microsoft.com/office/drawing/2014/main" id="{5ECC9EFB-8CD3-0BB4-5612-601BA17EEF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706" t="2092" r="3838" b="66798"/>
              <a:stretch/>
            </p:blipFill>
            <p:spPr bwMode="auto">
              <a:xfrm>
                <a:off x="2151529" y="143435"/>
                <a:ext cx="5414683" cy="2133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8B39858A-D6FA-83AE-CEDB-57E6F7EF43CE}"/>
                  </a:ext>
                </a:extLst>
              </p:cNvPr>
              <p:cNvSpPr/>
              <p:nvPr/>
            </p:nvSpPr>
            <p:spPr>
              <a:xfrm>
                <a:off x="5145741" y="1299881"/>
                <a:ext cx="1156447" cy="2151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B02CF85-F666-7358-3706-9F789FE8B400}"/>
                </a:ext>
              </a:extLst>
            </p:cNvPr>
            <p:cNvSpPr txBox="1"/>
            <p:nvPr/>
          </p:nvSpPr>
          <p:spPr>
            <a:xfrm>
              <a:off x="2598283" y="2157197"/>
              <a:ext cx="7361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Au NPs</a:t>
              </a:r>
              <a:endParaRPr lang="ko-KR" altLang="en-US" sz="1200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7731531-A6DF-E26A-2DEC-E2FB5F90605A}"/>
              </a:ext>
            </a:extLst>
          </p:cNvPr>
          <p:cNvGrpSpPr/>
          <p:nvPr/>
        </p:nvGrpSpPr>
        <p:grpSpPr>
          <a:xfrm>
            <a:off x="376409" y="3398727"/>
            <a:ext cx="3822700" cy="2927350"/>
            <a:chOff x="421626" y="3034512"/>
            <a:chExt cx="3822700" cy="2927350"/>
          </a:xfrm>
        </p:grpSpPr>
        <p:graphicFrame>
          <p:nvGraphicFramePr>
            <p:cNvPr id="12" name="개체 11">
              <a:extLst>
                <a:ext uri="{FF2B5EF4-FFF2-40B4-BE49-F238E27FC236}">
                  <a16:creationId xmlns:a16="http://schemas.microsoft.com/office/drawing/2014/main" id="{FD68952B-FF7C-AE56-B3AC-BA416EF592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4010603"/>
                </p:ext>
              </p:extLst>
            </p:nvPr>
          </p:nvGraphicFramePr>
          <p:xfrm>
            <a:off x="421626" y="3034512"/>
            <a:ext cx="3822700" cy="292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" name="Graph" r:id="rId5" imgW="3822929" imgH="2926704" progId="Origin95.Graph">
                    <p:embed/>
                  </p:oleObj>
                </mc:Choice>
                <mc:Fallback>
                  <p:oleObj name="Graph" r:id="rId5" imgW="3822929" imgH="2926704" progId="Origin95.Graph">
                    <p:embed/>
                    <p:pic>
                      <p:nvPicPr>
                        <p:cNvPr id="12" name="개체 11">
                          <a:extLst>
                            <a:ext uri="{FF2B5EF4-FFF2-40B4-BE49-F238E27FC236}">
                              <a16:creationId xmlns:a16="http://schemas.microsoft.com/office/drawing/2014/main" id="{FD68952B-FF7C-AE56-B3AC-BA416EF592F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1626" y="3034512"/>
                          <a:ext cx="3822700" cy="2927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07B5FEA3-60E6-3A42-CC9E-8B3B953E77FC}"/>
                </a:ext>
              </a:extLst>
            </p:cNvPr>
            <p:cNvCxnSpPr/>
            <p:nvPr/>
          </p:nvCxnSpPr>
          <p:spPr>
            <a:xfrm>
              <a:off x="2661036" y="3514165"/>
              <a:ext cx="0" cy="18556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DB45A5BD-233D-44BA-B4DC-0C52D7BFBE83}"/>
                </a:ext>
              </a:extLst>
            </p:cNvPr>
            <p:cNvCxnSpPr/>
            <p:nvPr/>
          </p:nvCxnSpPr>
          <p:spPr>
            <a:xfrm flipV="1">
              <a:off x="1685366" y="4760259"/>
              <a:ext cx="0" cy="5289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B723D4-04DE-3600-F145-60765878224F}"/>
                </a:ext>
              </a:extLst>
            </p:cNvPr>
            <p:cNvSpPr txBox="1"/>
            <p:nvPr/>
          </p:nvSpPr>
          <p:spPr>
            <a:xfrm>
              <a:off x="1317278" y="4483260"/>
              <a:ext cx="7361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4-AP</a:t>
              </a:r>
              <a:endParaRPr lang="ko-KR" altLang="en-US" sz="12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9D9285-F86A-A935-63FD-C6C65D66231F}"/>
                </a:ext>
              </a:extLst>
            </p:cNvPr>
            <p:cNvSpPr txBox="1"/>
            <p:nvPr/>
          </p:nvSpPr>
          <p:spPr>
            <a:xfrm>
              <a:off x="2292948" y="3205335"/>
              <a:ext cx="7361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4-NP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486937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D98C4BD-DC76-449B-800C-21A7BE1C202A}"/>
              </a:ext>
            </a:extLst>
          </p:cNvPr>
          <p:cNvSpPr txBox="1"/>
          <p:nvPr/>
        </p:nvSpPr>
        <p:spPr>
          <a:xfrm>
            <a:off x="305526" y="332656"/>
            <a:ext cx="8532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반응속도상수 계산</a:t>
            </a:r>
            <a:endParaRPr lang="en-US" sz="4000" b="1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C3C2E21-B974-5933-B913-54EDE1FC0487}"/>
              </a:ext>
            </a:extLst>
          </p:cNvPr>
          <p:cNvGrpSpPr/>
          <p:nvPr/>
        </p:nvGrpSpPr>
        <p:grpSpPr>
          <a:xfrm>
            <a:off x="179512" y="1124744"/>
            <a:ext cx="3822700" cy="2927350"/>
            <a:chOff x="421626" y="3034512"/>
            <a:chExt cx="3822700" cy="2927350"/>
          </a:xfrm>
        </p:grpSpPr>
        <p:graphicFrame>
          <p:nvGraphicFramePr>
            <p:cNvPr id="3" name="개체 2">
              <a:extLst>
                <a:ext uri="{FF2B5EF4-FFF2-40B4-BE49-F238E27FC236}">
                  <a16:creationId xmlns:a16="http://schemas.microsoft.com/office/drawing/2014/main" id="{94F13FAC-0D06-00CB-CB65-AA2D38531F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464052"/>
                </p:ext>
              </p:extLst>
            </p:nvPr>
          </p:nvGraphicFramePr>
          <p:xfrm>
            <a:off x="421626" y="3034512"/>
            <a:ext cx="3822700" cy="292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" name="Graph" r:id="rId4" imgW="3822929" imgH="2926704" progId="Origin95.Graph">
                    <p:embed/>
                  </p:oleObj>
                </mc:Choice>
                <mc:Fallback>
                  <p:oleObj name="Graph" r:id="rId4" imgW="3822929" imgH="2926704" progId="Origin95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94F13FAC-0D06-00CB-CB65-AA2D38531FF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1626" y="3034512"/>
                          <a:ext cx="3822700" cy="2927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6B28554B-B2D7-3F72-16AE-ECD19AA77EB4}"/>
                </a:ext>
              </a:extLst>
            </p:cNvPr>
            <p:cNvCxnSpPr/>
            <p:nvPr/>
          </p:nvCxnSpPr>
          <p:spPr>
            <a:xfrm>
              <a:off x="2661036" y="3514165"/>
              <a:ext cx="0" cy="18556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C517FBEC-0E1F-721A-5E7E-5442550780EA}"/>
                </a:ext>
              </a:extLst>
            </p:cNvPr>
            <p:cNvCxnSpPr/>
            <p:nvPr/>
          </p:nvCxnSpPr>
          <p:spPr>
            <a:xfrm flipV="1">
              <a:off x="1685366" y="4760259"/>
              <a:ext cx="0" cy="5289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604DB7-4C94-1DA0-F97B-4346D6004DC4}"/>
                </a:ext>
              </a:extLst>
            </p:cNvPr>
            <p:cNvSpPr txBox="1"/>
            <p:nvPr/>
          </p:nvSpPr>
          <p:spPr>
            <a:xfrm>
              <a:off x="1317278" y="4483260"/>
              <a:ext cx="7361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4-AP</a:t>
              </a:r>
              <a:endParaRPr lang="ko-KR" altLang="en-US" sz="12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FD36777-E80A-8329-D4E3-C8895985C236}"/>
                </a:ext>
              </a:extLst>
            </p:cNvPr>
            <p:cNvSpPr txBox="1"/>
            <p:nvPr/>
          </p:nvSpPr>
          <p:spPr>
            <a:xfrm>
              <a:off x="2292948" y="3205335"/>
              <a:ext cx="7361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4-NP</a:t>
              </a:r>
              <a:endParaRPr lang="ko-KR" altLang="en-US" sz="12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354E34D-E875-E5F8-A654-6721DFF97580}"/>
              </a:ext>
            </a:extLst>
          </p:cNvPr>
          <p:cNvGrpSpPr/>
          <p:nvPr/>
        </p:nvGrpSpPr>
        <p:grpSpPr>
          <a:xfrm>
            <a:off x="179512" y="3656407"/>
            <a:ext cx="3917473" cy="2998800"/>
            <a:chOff x="6097588" y="1929600"/>
            <a:chExt cx="3917473" cy="2998800"/>
          </a:xfrm>
        </p:grpSpPr>
        <p:graphicFrame>
          <p:nvGraphicFramePr>
            <p:cNvPr id="11" name="개체 10">
              <a:extLst>
                <a:ext uri="{FF2B5EF4-FFF2-40B4-BE49-F238E27FC236}">
                  <a16:creationId xmlns:a16="http://schemas.microsoft.com/office/drawing/2014/main" id="{D11154E6-06DB-7BE5-BD04-9CABDD66EB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1362480"/>
                </p:ext>
              </p:extLst>
            </p:nvPr>
          </p:nvGraphicFramePr>
          <p:xfrm>
            <a:off x="6097588" y="1929600"/>
            <a:ext cx="3917473" cy="299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Graph" r:id="rId6" imgW="4149471" imgH="3176016" progId="Origin95.Graph">
                    <p:embed/>
                  </p:oleObj>
                </mc:Choice>
                <mc:Fallback>
                  <p:oleObj name="Graph" r:id="rId6" imgW="4149471" imgH="3176016" progId="Origin95.Graph">
                    <p:embed/>
                    <p:pic>
                      <p:nvPicPr>
                        <p:cNvPr id="11" name="개체 10">
                          <a:extLst>
                            <a:ext uri="{FF2B5EF4-FFF2-40B4-BE49-F238E27FC236}">
                              <a16:creationId xmlns:a16="http://schemas.microsoft.com/office/drawing/2014/main" id="{D11154E6-06DB-7BE5-BD04-9CABDD66EBE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097588" y="1929600"/>
                          <a:ext cx="3917473" cy="2998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C42BCD-435F-3C9A-2387-508E049CEE0E}"/>
                </a:ext>
              </a:extLst>
            </p:cNvPr>
            <p:cNvSpPr txBox="1"/>
            <p:nvPr/>
          </p:nvSpPr>
          <p:spPr>
            <a:xfrm>
              <a:off x="6838950" y="2268809"/>
              <a:ext cx="27452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 y=-0.01304x+0.31475</a:t>
              </a:r>
            </a:p>
            <a:p>
              <a:pPr algn="r"/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=0.97327</a:t>
              </a:r>
            </a:p>
            <a:p>
              <a:pPr algn="r"/>
              <a:endParaRPr lang="en-US" altLang="ko-KR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534C92D-EC83-7654-9F79-1543FE60EFE7}"/>
              </a:ext>
            </a:extLst>
          </p:cNvPr>
          <p:cNvSpPr txBox="1"/>
          <p:nvPr/>
        </p:nvSpPr>
        <p:spPr>
          <a:xfrm>
            <a:off x="4002212" y="1124744"/>
            <a:ext cx="4836263" cy="5249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/>
              <a:t>Pseudo first-order kinetics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A</a:t>
            </a:r>
            <a:r>
              <a:rPr lang="en-US" altLang="ko-KR" sz="1400" baseline="-25000" dirty="0"/>
              <a:t>t</a:t>
            </a:r>
            <a:r>
              <a:rPr lang="en-US" altLang="ko-KR" sz="1400" dirty="0"/>
              <a:t>: </a:t>
            </a:r>
            <a:r>
              <a:rPr lang="ko-KR" altLang="en-US" sz="1400" dirty="0"/>
              <a:t>반응시간이 </a:t>
            </a:r>
            <a:r>
              <a:rPr lang="en-US" altLang="ko-KR" sz="1400" dirty="0"/>
              <a:t>t</a:t>
            </a:r>
            <a:r>
              <a:rPr lang="ko-KR" altLang="en-US" sz="1400" dirty="0"/>
              <a:t>일 때 최대흡수파장의 </a:t>
            </a:r>
            <a:r>
              <a:rPr lang="ko-KR" altLang="en-US" sz="1400" dirty="0" err="1"/>
              <a:t>흡광도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A</a:t>
            </a:r>
            <a:r>
              <a:rPr lang="en-US" altLang="ko-KR" sz="1400" baseline="-25000" dirty="0"/>
              <a:t>0</a:t>
            </a:r>
            <a:r>
              <a:rPr lang="en-US" altLang="ko-KR" sz="1400" dirty="0"/>
              <a:t>: </a:t>
            </a:r>
            <a:r>
              <a:rPr lang="ko-KR" altLang="en-US" sz="1400" dirty="0"/>
              <a:t>반응 시작 전 최대흡수파장의 </a:t>
            </a:r>
            <a:r>
              <a:rPr lang="ko-KR" altLang="en-US" sz="1400" dirty="0" err="1"/>
              <a:t>흡광도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K</a:t>
            </a:r>
            <a:r>
              <a:rPr lang="en-US" altLang="ko-KR" sz="1400" baseline="-25000" dirty="0"/>
              <a:t>app</a:t>
            </a:r>
            <a:r>
              <a:rPr lang="en-US" altLang="ko-KR" sz="1400" dirty="0"/>
              <a:t>: </a:t>
            </a:r>
            <a:r>
              <a:rPr lang="ko-KR" altLang="en-US" sz="1400" dirty="0"/>
              <a:t>반응속도상수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4-NP</a:t>
            </a:r>
            <a:r>
              <a:rPr lang="ko-KR" altLang="en-US" sz="2000" dirty="0"/>
              <a:t>의 최대흡수파장을 기준으로 위 반응속도식을 사용하여 그래프를 그릴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반응속도그래프의 추세선 기울기 절댓값이 촉매반응의 반응속도상수가 된다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D9AB227-176B-E735-F77C-17191FB19D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6056" y="1741559"/>
            <a:ext cx="187668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416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261</Words>
  <Application>Microsoft Office PowerPoint</Application>
  <PresentationFormat>화면 슬라이드 쇼(4:3)</PresentationFormat>
  <Paragraphs>67</Paragraphs>
  <Slides>13</Slides>
  <Notes>13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AIRLA</vt:lpstr>
      <vt:lpstr>-apple-system</vt:lpstr>
      <vt:lpstr>맑은 고딕</vt:lpstr>
      <vt:lpstr>Arial</vt:lpstr>
      <vt:lpstr>Times New Roman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CS</cp:lastModifiedBy>
  <cp:revision>17</cp:revision>
  <dcterms:created xsi:type="dcterms:W3CDTF">2012-03-17T06:26:46Z</dcterms:created>
  <dcterms:modified xsi:type="dcterms:W3CDTF">2026-03-18T05:09:24Z</dcterms:modified>
</cp:coreProperties>
</file>